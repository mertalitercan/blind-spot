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201168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06440" y="201168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2011680"/>
            <a:ext cx="137160" cy="137160"/>
          </a:xfrm>
          <a:prstGeom prst="ellipse">
            <a:avLst/>
          </a:prstGeom>
          <a:solidFill>
            <a:srgbClr val="1A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2E8F0"/>
                </a:solidFill>
                <a:latin typeface="Calibri"/>
              </a:defRPr>
            </a:pPr>
            <a:r>
              <a:t>BlindSpot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7D32"/>
                </a:solidFill>
                <a:latin typeface="Calibri"/>
              </a:defRPr>
            </a:pPr>
            <a:r>
              <a:t>"We are humans, not machines."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AI-Powered Fraud Detection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TD Bank  ·  Best AI Hack to Detect Financial Fraud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Fraud is growing faster than the systems built to detect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237744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CANADA</a:t>
            </a:r>
          </a:p>
          <a:p>
            <a:pPr algn="l">
              <a:spcBef>
                <a:spcPts val="600"/>
              </a:spcBef>
              <a:defRPr sz="4400" b="1">
                <a:solidFill>
                  <a:srgbClr val="E2E8F0"/>
                </a:solidFill>
                <a:latin typeface="Calibri"/>
              </a:defRPr>
            </a:pPr>
            <a:r>
              <a:t>$569M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lost to fraud in 2023</a:t>
            </a:r>
          </a:p>
          <a:p>
            <a:pPr algn="l">
              <a:spcBef>
                <a:spcPts val="800"/>
              </a:spcBef>
              <a:defRPr sz="1100" b="0">
                <a:solidFill>
                  <a:srgbClr val="F87171"/>
                </a:solidFill>
                <a:latin typeface="Calibri"/>
              </a:defRPr>
            </a:pPr>
            <a:r>
              <a:t>+40% increase since 2021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383280" cy="237744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GLOBAL</a:t>
            </a:r>
          </a:p>
          <a:p>
            <a:pPr algn="l">
              <a:spcBef>
                <a:spcPts val="600"/>
              </a:spcBef>
              <a:defRPr sz="4400" b="1">
                <a:solidFill>
                  <a:srgbClr val="E2E8F0"/>
                </a:solidFill>
                <a:latin typeface="Calibri"/>
              </a:defRPr>
            </a:pPr>
            <a:r>
              <a:t>$485B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lost to fraud globally in 2023</a:t>
            </a:r>
          </a:p>
          <a:p>
            <a:pPr algn="l">
              <a:spcBef>
                <a:spcPts val="800"/>
              </a:spcBef>
              <a:defRPr sz="1100" b="0">
                <a:solidFill>
                  <a:srgbClr val="F87171"/>
                </a:solidFill>
                <a:latin typeface="Calibri"/>
              </a:defRPr>
            </a:pPr>
            <a:r>
              <a:t>Projected to exceed $1T by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383280" cy="237744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APP FRAUD</a:t>
            </a:r>
          </a:p>
          <a:p>
            <a:pPr algn="l">
              <a:spcBef>
                <a:spcPts val="600"/>
              </a:spcBef>
              <a:defRPr sz="4400" b="1">
                <a:solidFill>
                  <a:srgbClr val="E2E8F0"/>
                </a:solidFill>
                <a:latin typeface="Calibri"/>
              </a:defRPr>
            </a:pPr>
            <a:r>
              <a:t>70%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of fraud is Authorized Push Payment</a:t>
            </a:r>
          </a:p>
          <a:p>
            <a:pPr algn="l">
              <a:spcBef>
                <a:spcPts val="800"/>
              </a:spcBef>
              <a:defRPr sz="1100" b="0">
                <a:solidFill>
                  <a:srgbClr val="FBBF24"/>
                </a:solidFill>
                <a:latin typeface="Calibri"/>
              </a:defRPr>
            </a:pPr>
            <a:r>
              <a:t>Victims willingly send money under coercion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The biggest blind spot: traditional systems can’t detect fraud when the real account holder is the one pressing “Send.”</a:t>
            </a:r>
            <a:br/>
            <a:r>
              <a:t>APP fraud bypasses every rule-based check because the device is real, the IP is real, the credentials are real. The only anomaly is the human.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What Makes Us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Our system scrutinizes every layer. Traditional systems only scratch the surface.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554480"/>
            <a:ext cx="2011680" cy="45720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9080" y="1600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Traditional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54480"/>
            <a:ext cx="2011680" cy="45720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600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Advanced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554480"/>
            <a:ext cx="2011680" cy="457200"/>
          </a:xfrm>
          <a:prstGeom prst="rect">
            <a:avLst/>
          </a:prstGeom>
          <a:solidFill>
            <a:srgbClr val="152518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00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BlindSpot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57400"/>
            <a:ext cx="320040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Transaction amount &amp; velocity checks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057400"/>
            <a:ext cx="201168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057400"/>
            <a:ext cx="201168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057400"/>
            <a:ext cx="2011680" cy="402336"/>
          </a:xfrm>
          <a:prstGeom prst="rect">
            <a:avLst/>
          </a:prstGeom>
          <a:solidFill>
            <a:srgbClr val="122015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496312"/>
            <a:ext cx="320040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5420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Device fingerprinting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496312"/>
            <a:ext cx="201168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496312"/>
            <a:ext cx="201168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2496312"/>
            <a:ext cx="2011680" cy="402336"/>
          </a:xfrm>
          <a:prstGeom prst="rect">
            <a:avLst/>
          </a:prstGeom>
          <a:solidFill>
            <a:srgbClr val="0A150D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2542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935224"/>
            <a:ext cx="320040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29809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IP geolocation &amp; impossible travel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2935224"/>
            <a:ext cx="201168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935224"/>
            <a:ext cx="201168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980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2935224"/>
            <a:ext cx="2011680" cy="402336"/>
          </a:xfrm>
          <a:prstGeom prst="rect">
            <a:avLst/>
          </a:prstGeom>
          <a:solidFill>
            <a:srgbClr val="122015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2980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374136"/>
            <a:ext cx="320040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4198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Recipient network graph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3374136"/>
            <a:ext cx="201168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3419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374136"/>
            <a:ext cx="201168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3419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3374136"/>
            <a:ext cx="2011680" cy="402336"/>
          </a:xfrm>
          <a:prstGeom prst="rect">
            <a:avLst/>
          </a:prstGeom>
          <a:solidFill>
            <a:srgbClr val="0A150D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3419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3813048"/>
            <a:ext cx="320040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38587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Real-time behavioral biometrics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0" y="3813048"/>
            <a:ext cx="201168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0" y="3858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813048"/>
            <a:ext cx="201168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3858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80" y="3813048"/>
            <a:ext cx="2011680" cy="402336"/>
          </a:xfrm>
          <a:prstGeom prst="rect">
            <a:avLst/>
          </a:prstGeom>
          <a:solidFill>
            <a:srgbClr val="122015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0" y="3858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4251960"/>
            <a:ext cx="320040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297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Cognitive state detection (coercion/stress)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0" y="4251960"/>
            <a:ext cx="201168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0" y="4297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4251960"/>
            <a:ext cx="201168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4297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80" y="4251960"/>
            <a:ext cx="2011680" cy="402336"/>
          </a:xfrm>
          <a:prstGeom prst="rect">
            <a:avLst/>
          </a:prstGeom>
          <a:solidFill>
            <a:srgbClr val="0A150D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80" y="4297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4690872"/>
            <a:ext cx="320040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4736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Typing rhythm &amp; hesitation analysis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31920" y="4690872"/>
            <a:ext cx="201168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31920" y="47365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4690872"/>
            <a:ext cx="201168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0" y="47365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55280" y="4690872"/>
            <a:ext cx="2011680" cy="402336"/>
          </a:xfrm>
          <a:prstGeom prst="rect">
            <a:avLst/>
          </a:prstGeom>
          <a:solidFill>
            <a:srgbClr val="122015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0" y="47365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5129784"/>
            <a:ext cx="320040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51755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AI-driven reasoning (not just rules)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31920" y="5129784"/>
            <a:ext cx="201168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31920" y="5175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5129784"/>
            <a:ext cx="2011680" cy="402336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0" y="5175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55280" y="5129784"/>
            <a:ext cx="2011680" cy="402336"/>
          </a:xfrm>
          <a:prstGeom prst="rect">
            <a:avLst/>
          </a:prstGeom>
          <a:solidFill>
            <a:srgbClr val="0A150D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55280" y="5175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20" y="5568696"/>
            <a:ext cx="320040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8680" y="56144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Dynamic scoring that improves over time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31920" y="5568696"/>
            <a:ext cx="201168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0" y="5614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5568696"/>
            <a:ext cx="201168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0" y="5614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405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955280" y="5568696"/>
            <a:ext cx="2011680" cy="402336"/>
          </a:xfrm>
          <a:prstGeom prst="rect">
            <a:avLst/>
          </a:prstGeom>
          <a:solidFill>
            <a:srgbClr val="122015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55280" y="5614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solidFill>
            <a:srgbClr val="152518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BlindSpot doesn’t just flag numbers — it deeply scrutinizes the human behind every transaction.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What We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Every interaction in the mobile app is a data point that builds a behavioral fingerprint.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Typing Biometrics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typing_speed_wpm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typing_rhythm_signature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3113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error_rate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323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segmented_typing_detected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Touch Biometrics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avg_touch_pressure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186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avg_touch_radius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hand_dominance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30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Behavioral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paste_detected  /  paste_field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confirm_button_hesitation_ms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confirm_attempts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085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navigation_directness_score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97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screen_familiarity_score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Session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is_phone_call_active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961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total_dead_time_ms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app_switches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554480"/>
            <a:ext cx="6400800" cy="4846320"/>
          </a:xfrm>
          <a:prstGeom prst="rect">
            <a:avLst/>
          </a:prstGeom>
          <a:solidFill>
            <a:srgbClr val="0A0A12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16916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A0C0A0"/>
                </a:solidFill>
                <a:latin typeface="Consolas"/>
              </a:defRPr>
            </a:pPr>
            <a:r>
              <a:t>export interface TelemetrySnapshot {</a:t>
            </a:r>
            <a:br/>
            <a:r>
              <a:t>  session_id: string;</a:t>
            </a:r>
            <a:br/>
            <a:r>
              <a:t>  user_id: string;</a:t>
            </a:r>
            <a:br/>
            <a:r>
              <a:t>  session_duration_ms: number;</a:t>
            </a:r>
            <a:br/>
            <a:br/>
            <a:r>
              <a:t>  // Typing biometrics</a:t>
            </a:r>
            <a:br/>
            <a:r>
              <a:t>  keystroke_events: KeystrokeEvent[];</a:t>
            </a:r>
            <a:br/>
            <a:r>
              <a:t>  typing_speed_wpm: number;</a:t>
            </a:r>
            <a:br/>
            <a:r>
              <a:t>  error_rate: number;</a:t>
            </a:r>
            <a:br/>
            <a:r>
              <a:t>  typing_rhythm_signature: number[];</a:t>
            </a:r>
            <a:br/>
            <a:r>
              <a:t>  segmented_typing_detected: boolean;</a:t>
            </a:r>
            <a:br/>
            <a:br/>
            <a:r>
              <a:t>  // Paste &amp; hesitation</a:t>
            </a:r>
            <a:br/>
            <a:r>
              <a:t>  paste_detected: boolean;</a:t>
            </a:r>
            <a:br/>
            <a:r>
              <a:t>  paste_field: string;</a:t>
            </a:r>
            <a:br/>
            <a:r>
              <a:t>  confirm_button_hesitation_ms: number;</a:t>
            </a:r>
            <a:br/>
            <a:r>
              <a:t>  confirm_attempts: number;</a:t>
            </a:r>
            <a:br/>
            <a:br/>
            <a:r>
              <a:t>  // Touch &amp; navigation</a:t>
            </a:r>
            <a:br/>
            <a:r>
              <a:t>  touch_events: TouchEvent[];</a:t>
            </a:r>
            <a:br/>
            <a:r>
              <a:t>  avg_touch_pressure: number;</a:t>
            </a:r>
            <a:br/>
            <a:r>
              <a:t>  hand_dominance: string;</a:t>
            </a:r>
            <a:br/>
            <a:r>
              <a:t>  navigation_directness_score: number;</a:t>
            </a:r>
            <a:br/>
            <a:r>
              <a:t>  screen_familiarity_score: number;</a:t>
            </a:r>
            <a:br/>
            <a:br/>
            <a:r>
              <a:t>  // Dead time &amp; app switches</a:t>
            </a:r>
            <a:br/>
            <a:r>
              <a:t>  total_dead_time_ms: number;</a:t>
            </a:r>
            <a:br/>
            <a:r>
              <a:t>  dead_time_periods: DeadTimePeriod[];</a:t>
            </a:r>
            <a:br/>
            <a:r>
              <a:t>  app_switches: AppSwitch[];</a:t>
            </a:r>
            <a:br/>
            <a: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mobile/lib/telemetry.ts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Multi-Agent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6 specialized AI agents analyze every transaction in parallel, then a meta-scorer synthesizes the verdict.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383280" cy="192024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Behavioral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Compares typing speed, rhythm, pressure, and navigation patterns against the user's historical baseline.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383280" cy="192024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78308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Cognitive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Detects coercion, stress, and coaching signals — phone calls, hesitation, dead time, segmented typing.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383280" cy="192024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178308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Transaction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Analyzes amount, recipient, MCC codes, geo-location, and patterns vs. user's income and history.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3383280" cy="192024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97764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886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519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Verifies device fingerprint, IP geolocation, VPN/emulator detection, impossible travel scenarios.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749040"/>
            <a:ext cx="3383280" cy="192024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0" y="397764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86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519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Maps recipient network — fan-in patterns, account age, first-time senders, mule indicators.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749040"/>
            <a:ext cx="7040880" cy="1920240"/>
          </a:xfrm>
          <a:prstGeom prst="rect">
            <a:avLst/>
          </a:prstGeom>
          <a:solidFill>
            <a:srgbClr val="152518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0" y="3977640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Meta-Reasoning Scorer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25196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Synthesizes all 5 agent outputs using weighted scoring + amplification rules.</a:t>
            </a:r>
            <a:br/>
            <a:r>
              <a:t>Applies AI reasoning to produce final fraud score, risk level, and recommended actions.</a:t>
            </a:r>
            <a:br/>
            <a:r>
              <a:t>Outputs a human-readable explanation of why the transaction was flagged.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All 6 agents run concurrently  →  Results streamed in real-time to the analyst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Dynamic Scoring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Weighted formula + AI amplification rules. The system learns and adapts with every transaction.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6858000" cy="1463040"/>
          </a:xfrm>
          <a:prstGeom prst="rect">
            <a:avLst/>
          </a:prstGeom>
          <a:solidFill>
            <a:srgbClr val="0A0A12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onsolas"/>
              </a:defRPr>
            </a:pPr>
            <a:r>
              <a:t>score = Behavioral × 0.20  +  Cognitive × 0.30  +  Transaction × 0.20</a:t>
            </a:r>
            <a:br/>
            <a:r>
              <a:t>            + Device × 0.10  +  Graph × 0.20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7D32"/>
                </a:solidFill>
                <a:latin typeface="Calibri"/>
              </a:defRPr>
            </a:pPr>
            <a:r>
              <a:t>Cognitive has the highest weight (30%) — because detecting human coercion is our core differentiator.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Amplification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6858000" cy="438912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0390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APP Fraud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8039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Cognitive &gt; 70 AND Device &lt;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803903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7171"/>
                </a:solidFill>
                <a:latin typeface="Calibri"/>
              </a:defRPr>
            </a:pPr>
            <a:r>
              <a:t>×1.4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80390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Real device, coerced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51959"/>
            <a:ext cx="6858000" cy="438912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0682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Stressed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30682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Cognitive &gt; 70 AND Behavioral &gt; 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306823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7171"/>
                </a:solidFill>
                <a:latin typeface="Calibri"/>
              </a:defRPr>
            </a:pPr>
            <a:r>
              <a:t>×1.3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30682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Unusual behavior under stress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54879"/>
            <a:ext cx="6858000" cy="438912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974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Mule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80974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Graph &gt; 70 AND Transaction &gt; 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809743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7171"/>
                </a:solidFill>
                <a:latin typeface="Calibri"/>
              </a:defRPr>
            </a:pPr>
            <a:r>
              <a:t>×1.3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80974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Suspicious recipient + unusual txn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57799"/>
            <a:ext cx="6858000" cy="438912"/>
          </a:xfrm>
          <a:prstGeom prst="rect">
            <a:avLst/>
          </a:prstGeom>
          <a:solidFill>
            <a:srgbClr val="050510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1266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Account Takeover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31266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Behavioral &gt; 80 AND Device &gt; 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312663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7171"/>
                </a:solidFill>
                <a:latin typeface="Calibri"/>
              </a:defRPr>
            </a:pPr>
            <a:r>
              <a:t>×1.4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31266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Different person, different device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Risk Levels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103120"/>
            <a:ext cx="3383280" cy="68580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176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onsolas"/>
              </a:defRPr>
            </a:pPr>
            <a:r>
              <a:t>0–30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176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4505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Allow transaction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2926080"/>
            <a:ext cx="3383280" cy="68580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29992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onsolas"/>
              </a:defRPr>
            </a:pPr>
            <a:r>
              <a:t>31–70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999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Medium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273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Flag for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749040"/>
            <a:ext cx="3383280" cy="68580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8221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onsolas"/>
              </a:defRPr>
            </a:pPr>
            <a:r>
              <a:t>71–100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221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6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Block &amp; pause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4663440"/>
            <a:ext cx="3383280" cy="1097280"/>
          </a:xfrm>
          <a:prstGeom prst="rect">
            <a:avLst/>
          </a:prstGeom>
          <a:solidFill>
            <a:srgbClr val="152518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754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Self-Improving System</a:t>
            </a:r>
            <a:br/>
            <a:br/>
            <a:r>
              <a:t>Every transaction and behavioral input expands the user's baseline. The more the system sees, the better it gets at distinguishing real users from imposters.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Oval 2"/>
          <p:cNvSpPr/>
          <p:nvPr/>
        </p:nvSpPr>
        <p:spPr>
          <a:xfrm>
            <a:off x="5394960" y="3291840"/>
            <a:ext cx="1371600" cy="1371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35204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Mobile App  →  Real-time Agent Pipeline  →  Analyst Dashboard  →  AI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94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Insert 1-minute demo video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2E8F0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29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59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Uvicorn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64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ASGI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41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Pydantic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70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AI &amp;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92024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029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Claude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359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Anthropic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92608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Railtracks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364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Agent 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93192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041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Claude Haiku 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370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Agents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93776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5047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3766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192024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2029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359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292608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364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93192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4041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370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192024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2029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Expo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2359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292608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3649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393192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4041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Custom Telemetry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370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Biometrics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1920240"/>
            <a:ext cx="2103120" cy="822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20299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359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PostgreSQL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219456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06440" y="219456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2194560"/>
            <a:ext cx="137160" cy="137160"/>
          </a:xfrm>
          <a:prstGeom prst="ellipse">
            <a:avLst/>
          </a:prstGeom>
          <a:solidFill>
            <a:srgbClr val="1A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E7D32"/>
                </a:solidFill>
                <a:latin typeface="Calibri"/>
              </a:defRPr>
            </a:pPr>
            <a:r>
              <a:t>"We are humans, not machines."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BlindSpot  ·  AI-Powered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